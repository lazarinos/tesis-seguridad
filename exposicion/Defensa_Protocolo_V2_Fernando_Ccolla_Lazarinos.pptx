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Flujos</c:v>
                </c:pt>
              </c:strCache>
            </c:strRef>
          </c:tx>
          <c:spPr>
            <a:solidFill>
              <a:srgbClr val="C8A96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CE9E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DoS</c:v>
                  </c:pt>
                  <c:pt idx="1">
                    <c:v>Benign</c:v>
                  </c:pt>
                  <c:pt idx="2">
                    <c:v>Recon</c:v>
                  </c:pt>
                  <c:pt idx="3">
                    <c:v>BruteForce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423700</c:v>
                </c:pt>
                <c:pt idx="1">
                  <c:v>26027</c:v>
                </c:pt>
                <c:pt idx="2">
                  <c:v>22186</c:v>
                </c:pt>
                <c:pt idx="3">
                  <c:v>14433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ECE9E2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CE9E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600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F1-macro</c:v>
                </c:pt>
              </c:strCache>
            </c:strRef>
          </c:tx>
          <c:spPr>
            <a:solidFill>
              <a:srgbClr val="C8A96A"/>
            </a:solidFill>
            <a:effectLst/>
          </c:spPr>
          <c:invertIfNegative val="0"/>
          <c:dLbls>
            <c:numFmt formatCode="0.000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CE9E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A96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E646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E646D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Random Forest</c:v>
                  </c:pt>
                  <c:pt idx="1">
                    <c:v>XGBoost</c:v>
                  </c:pt>
                  <c:pt idx="2">
                    <c:v>MLP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0.999973</c:v>
                </c:pt>
                <c:pt idx="1">
                  <c:v>0.999933</c:v>
                </c:pt>
                <c:pt idx="2">
                  <c:v>0.999618</c:v>
                </c:pt>
              </c:numCache>
            </c:numRef>
          </c:val>
        </c:ser>
        <c:dLbls>
          <c:numFmt formatCode="0.000000" sourceLinked="0"/>
          <c:txPr>
            <a:bodyPr/>
            <a:lstStyle/>
            <a:p>
              <a:pPr>
                <a:defRPr b="0" i="0" strike="noStrike" sz="1100" u="none">
                  <a:solidFill>
                    <a:srgbClr val="ECE9E2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CE9E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0001"/>
          <c:min val="0.9994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mean|SHAP|</c:v>
                </c:pt>
              </c:strCache>
            </c:strRef>
          </c:tx>
          <c:spPr>
            <a:solidFill>
              <a:srgbClr val="C8A96A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CE9E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Sdaddr</c:v>
                  </c:pt>
                  <c:pt idx="1">
                    <c:v>sHops</c:v>
                  </c:pt>
                  <c:pt idx="2">
                    <c:v>dMaxPktSz</c:v>
                  </c:pt>
                  <c:pt idx="3">
                    <c:v>sTtl</c:v>
                  </c:pt>
                  <c:pt idx="4">
                    <c:v>Dur</c:v>
                  </c:pt>
                  <c:pt idx="5">
                    <c:v>SIntPktMin</c:v>
                  </c:pt>
                  <c:pt idx="6">
                    <c:v>dMeanPktSz</c:v>
                  </c:pt>
                  <c:pt idx="7">
                    <c:v>SrcBytes</c:v>
                  </c:pt>
                  <c:pt idx="8">
                    <c:v>DstWin</c:v>
                  </c:pt>
                  <c:pt idx="9">
                    <c:v>State_CON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0.1024</c:v>
                </c:pt>
                <c:pt idx="1">
                  <c:v>0.0339</c:v>
                </c:pt>
                <c:pt idx="2">
                  <c:v>0.0292</c:v>
                </c:pt>
                <c:pt idx="3">
                  <c:v>0.0251</c:v>
                </c:pt>
                <c:pt idx="4">
                  <c:v>0.0196</c:v>
                </c:pt>
                <c:pt idx="5">
                  <c:v>0.0191</c:v>
                </c:pt>
                <c:pt idx="6">
                  <c:v>0.0173</c:v>
                </c:pt>
                <c:pt idx="7">
                  <c:v>0.0167</c:v>
                </c:pt>
                <c:pt idx="8">
                  <c:v>0.0161</c:v>
                </c:pt>
                <c:pt idx="9">
                  <c:v>0.0153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ECE9E2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CE9E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2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Buenos días. Mi investigación desarrolla y evalúa un sistema que detecta tráfico benigno, fuerza bruta, denegación de servicio y reconocimiento, explica cada decisión con SHAP y la traduce a alertas y playbooks. Detectar → explicar → traducir → apoyar una respuesta.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Enfoque cuantitativo, tipo aplicada. Hoy presento la parte computacional ya ejecutada (OE1, OE2, OE3). La evaluación con usuarios (OE4) todavía no se ejecuta; está contemplada en el protocolo.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el mapa del protocolo. Cada etapa deja un artefacto verificable. GeNIS conserva su train/test oficial; CICIDS se usa solo como contraste independiente.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GeNIS está muy desbalanceado: DoS es ~87% del train. Por eso F1-macro como métrica principal y balanceo dentro de cada fold. Estratificado significa conservar proporciones de clase en cada partición.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Leakage es que información que debía quedar fuera del aprendizaje influya al modelo. Selector, scaler y SMOTE se ajustan solo con los 4 folds de entrenamiento. Dentro de CV se dice fold de validación, no de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resultado queda asociado a hashes de datasets y scripts, configuraciones, folds, semillas, environment_id, modelos, predicciones individuales, métricas, SHAP y logs. Todo listado en manifest_final.json.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RF 0.999973 (DE 0.000054), XGB 0.999933 (DE 0.000085), MLP 0.999618 (DE 0.000204). 10 configs RF + 10 XGB + 4 MLP = 24; ×5 folds = 120 evaluaciones de pliegue, no 120-fold CV. Ajuste respecto al protocolo: en vez de RandomizedSearchCV se congeló una lista explícita de 24 configuraciones por reproducibilidad y control de recursos.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F1-macro medio en test 0.999957 (5 semillas, 121,587 flujos). Accuracy sola no basta por el desbalance. La latencia depende del hardware (ENV_de6fe487a3e9); SHAP se reporta aparte.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Global: qué variables pesan en muchas predicciones. Local: por qué esta decisión. Nota: Sdaddr domina el ranking; hay que verificar que no actúe como identificador de la muestra. Se contempla en acciones siguientes.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Solo se compara tras homologación semántica (feature_mapping.csv congelado): concepto, dirección, estadístico, unidad y ventana. J=|A∩B|/|A∪B| = 2/8.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el avance demuestra la cadena técnica de detección, explicabilidad y trazabilidad; la validación de comprensión humana es el trabajo siguiente. No se muestran resultados de usuarios porque OE4 no se ha ejecutado.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IR">
    <p:bg>
      <p:bgPr>
        <a:solidFill>
          <a:srgbClr val="1113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939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939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-circulo"/>
          <p:cNvSpPr/>
          <p:nvPr/>
        </p:nvSpPr>
        <p:spPr>
          <a:xfrm>
            <a:off x="731520" y="640080"/>
            <a:ext cx="1234440" cy="1234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C3036"/>
            </a:solidFill>
            <a:prstDash val="solid"/>
          </a:ln>
        </p:spPr>
      </p:sp>
      <p:pic>
        <p:nvPicPr>
          <p:cNvPr id="3" name="Image 0" descr="Logo Ingeniería de Software y Sistem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713232"/>
            <a:ext cx="1088136" cy="108813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19456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C8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Y SISTEMAS · TESIS II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103120"/>
            <a:ext cx="10241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ECE9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Detección de intrusiones de red con aprendizaje automático y explicabilidad (XAI)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2062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8E93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pequeñas y medianas empresas de Juliaca, Puno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5394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Fernando Ccolla Lazarinos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8E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Defensa de avance · Protocolo V2 · Octubre 2026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939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8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ECE9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y estado de avance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Ccolla Lazarinos · Protocolo V2 · RUN_REPRO_V2_03_CLEANROOM</a:t>
            </a:r>
            <a:endParaRPr lang="en-US" sz="1000" dirty="0"/>
          </a:p>
        </p:txBody>
      </p:sp>
      <p:sp>
        <p:nvSpPr>
          <p:cNvPr id="5" name="objetivo"/>
          <p:cNvSpPr/>
          <p:nvPr/>
        </p:nvSpPr>
        <p:spPr>
          <a:xfrm>
            <a:off x="640080" y="1600200"/>
            <a:ext cx="10908792" cy="1097280"/>
          </a:xfrm>
          <a:prstGeom prst="roundRect">
            <a:avLst>
              <a:gd name="adj" fmla="val 6667"/>
            </a:avLst>
          </a:prstGeom>
          <a:solidFill>
            <a:srgbClr val="1A1D21"/>
          </a:solidFill>
          <a:ln w="9525">
            <a:solidFill>
              <a:srgbClr val="2C303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7830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8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  </a:t>
            </a:r>
            <a:pPr indent="0" marL="0">
              <a:buNone/>
            </a:pPr>
            <a:r>
              <a:rPr lang="en-US" sz="1500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y evaluar un sistema de detección de intrusiones con ML y SHAP (GeNIS 2025 como conjunto principal, CICIDS2017 como repetición independiente) cuyas alertas sean comprensibles para usuarios no especializados.</a:t>
            </a:r>
            <a:endParaRPr lang="en-US" sz="1500" dirty="0"/>
          </a:p>
        </p:txBody>
      </p:sp>
      <p:sp>
        <p:nvSpPr>
          <p:cNvPr id="7" name="oe-OE1"/>
          <p:cNvSpPr/>
          <p:nvPr/>
        </p:nvSpPr>
        <p:spPr>
          <a:xfrm>
            <a:off x="640080" y="2971800"/>
            <a:ext cx="10908792" cy="640080"/>
          </a:xfrm>
          <a:prstGeom prst="roundRect">
            <a:avLst>
              <a:gd name="adj" fmla="val 11429"/>
            </a:avLst>
          </a:prstGeom>
          <a:solidFill>
            <a:srgbClr val="1A1D21"/>
          </a:solidFill>
          <a:ln w="9525">
            <a:solidFill>
              <a:srgbClr val="2C303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31272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8A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OE1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3145536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Random Forest, XGBoost y MLP con F1-macro</a:t>
            </a:r>
            <a:endParaRPr lang="en-US" sz="1400" dirty="0"/>
          </a:p>
        </p:txBody>
      </p:sp>
      <p:sp>
        <p:nvSpPr>
          <p:cNvPr id="10" name="estado-OE1"/>
          <p:cNvSpPr/>
          <p:nvPr/>
        </p:nvSpPr>
        <p:spPr>
          <a:xfrm>
            <a:off x="8915400" y="3099816"/>
            <a:ext cx="2423160" cy="384048"/>
          </a:xfrm>
          <a:prstGeom prst="roundRect">
            <a:avLst>
              <a:gd name="adj" fmla="val 47619"/>
            </a:avLst>
          </a:prstGeom>
          <a:solidFill>
            <a:srgbClr val="111315"/>
          </a:solidFill>
          <a:ln w="12700">
            <a:solidFill>
              <a:srgbClr val="7FB0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915400" y="309981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B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Ejecutado</a:t>
            </a:r>
            <a:endParaRPr lang="en-US" sz="1200" dirty="0"/>
          </a:p>
        </p:txBody>
      </p:sp>
      <p:sp>
        <p:nvSpPr>
          <p:cNvPr id="12" name="oe-OE2"/>
          <p:cNvSpPr/>
          <p:nvPr/>
        </p:nvSpPr>
        <p:spPr>
          <a:xfrm>
            <a:off x="640080" y="3749040"/>
            <a:ext cx="10908792" cy="640080"/>
          </a:xfrm>
          <a:prstGeom prst="roundRect">
            <a:avLst>
              <a:gd name="adj" fmla="val 11429"/>
            </a:avLst>
          </a:prstGeom>
          <a:solidFill>
            <a:srgbClr val="1A1D21"/>
          </a:solidFill>
          <a:ln w="9525">
            <a:solidFill>
              <a:srgbClr val="2C303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390448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8A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OE2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3922776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variables dominantes con SHAP y comparar solo lo homologable</a:t>
            </a:r>
            <a:endParaRPr lang="en-US" sz="1400" dirty="0"/>
          </a:p>
        </p:txBody>
      </p:sp>
      <p:sp>
        <p:nvSpPr>
          <p:cNvPr id="15" name="estado-OE2"/>
          <p:cNvSpPr/>
          <p:nvPr/>
        </p:nvSpPr>
        <p:spPr>
          <a:xfrm>
            <a:off x="8915400" y="3877056"/>
            <a:ext cx="2423160" cy="384048"/>
          </a:xfrm>
          <a:prstGeom prst="roundRect">
            <a:avLst>
              <a:gd name="adj" fmla="val 47619"/>
            </a:avLst>
          </a:prstGeom>
          <a:solidFill>
            <a:srgbClr val="111315"/>
          </a:solidFill>
          <a:ln w="12700">
            <a:solidFill>
              <a:srgbClr val="7FB08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15400" y="387705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B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Ejecutado</a:t>
            </a:r>
            <a:endParaRPr lang="en-US" sz="1200" dirty="0"/>
          </a:p>
        </p:txBody>
      </p:sp>
      <p:sp>
        <p:nvSpPr>
          <p:cNvPr id="17" name="oe-OE3"/>
          <p:cNvSpPr/>
          <p:nvPr/>
        </p:nvSpPr>
        <p:spPr>
          <a:xfrm>
            <a:off x="640080" y="4526280"/>
            <a:ext cx="10908792" cy="640080"/>
          </a:xfrm>
          <a:prstGeom prst="roundRect">
            <a:avLst>
              <a:gd name="adj" fmla="val 11429"/>
            </a:avLst>
          </a:prstGeom>
          <a:solidFill>
            <a:srgbClr val="1A1D21"/>
          </a:solidFill>
          <a:ln w="9525">
            <a:solidFill>
              <a:srgbClr val="2C303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46817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8A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OE3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737360" y="4700016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local de alertas y playbooks (Flask)</a:t>
            </a:r>
            <a:endParaRPr lang="en-US" sz="1400" dirty="0"/>
          </a:p>
        </p:txBody>
      </p:sp>
      <p:sp>
        <p:nvSpPr>
          <p:cNvPr id="20" name="estado-OE3"/>
          <p:cNvSpPr/>
          <p:nvPr/>
        </p:nvSpPr>
        <p:spPr>
          <a:xfrm>
            <a:off x="8915400" y="4654296"/>
            <a:ext cx="2423160" cy="384048"/>
          </a:xfrm>
          <a:prstGeom prst="roundRect">
            <a:avLst>
              <a:gd name="adj" fmla="val 47619"/>
            </a:avLst>
          </a:prstGeom>
          <a:solidFill>
            <a:srgbClr val="111315"/>
          </a:solidFill>
          <a:ln w="12700">
            <a:solidFill>
              <a:srgbClr val="7FB08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915400" y="465429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B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funcional</a:t>
            </a:r>
            <a:endParaRPr lang="en-US" sz="1200" dirty="0"/>
          </a:p>
        </p:txBody>
      </p:sp>
      <p:sp>
        <p:nvSpPr>
          <p:cNvPr id="22" name="oe-OE4"/>
          <p:cNvSpPr/>
          <p:nvPr/>
        </p:nvSpPr>
        <p:spPr>
          <a:xfrm>
            <a:off x="640080" y="5303520"/>
            <a:ext cx="10908792" cy="640080"/>
          </a:xfrm>
          <a:prstGeom prst="roundRect">
            <a:avLst>
              <a:gd name="adj" fmla="val 11429"/>
            </a:avLst>
          </a:prstGeom>
          <a:solidFill>
            <a:srgbClr val="1A1D21"/>
          </a:solidFill>
          <a:ln w="9525">
            <a:solidFill>
              <a:srgbClr val="2C303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4400" y="545896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8A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OE4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737360" y="5477256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exploratoria con 8–12 administradores de pymes</a:t>
            </a:r>
            <a:endParaRPr lang="en-US" sz="1400" dirty="0"/>
          </a:p>
        </p:txBody>
      </p:sp>
      <p:sp>
        <p:nvSpPr>
          <p:cNvPr id="25" name="estado-OE4"/>
          <p:cNvSpPr/>
          <p:nvPr/>
        </p:nvSpPr>
        <p:spPr>
          <a:xfrm>
            <a:off x="8915400" y="5431536"/>
            <a:ext cx="2423160" cy="384048"/>
          </a:xfrm>
          <a:prstGeom prst="roundRect">
            <a:avLst>
              <a:gd name="adj" fmla="val 47619"/>
            </a:avLst>
          </a:prstGeom>
          <a:solidFill>
            <a:srgbClr val="111315"/>
          </a:solidFill>
          <a:ln w="12700">
            <a:solidFill>
              <a:srgbClr val="C8A96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915400" y="543153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 · siguiente fase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60350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E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 4 objetivos con evidencia ejecutada y trazable. La parte con usuarios (OE4) corresponde a la etapa posterior.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939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8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ECE9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 experimental del protocolo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Ccolla Lazarinos · Protocolo V2 · RUN_REPRO_V2_03_CLEANROOM</a:t>
            </a:r>
            <a:endParaRPr lang="en-US" sz="1000" dirty="0"/>
          </a:p>
        </p:txBody>
      </p:sp>
      <p:sp>
        <p:nvSpPr>
          <p:cNvPr id="5" name="paso-1"/>
          <p:cNvSpPr/>
          <p:nvPr/>
        </p:nvSpPr>
        <p:spPr>
          <a:xfrm>
            <a:off x="640080" y="2011680"/>
            <a:ext cx="1645920" cy="1417320"/>
          </a:xfrm>
          <a:prstGeom prst="roundRect">
            <a:avLst>
              <a:gd name="adj" fmla="val 5161"/>
            </a:avLst>
          </a:prstGeom>
          <a:solidFill>
            <a:srgbClr val="1A1D21"/>
          </a:solidFill>
          <a:ln w="9525">
            <a:solidFill>
              <a:srgbClr val="2C303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213969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8A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560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9077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GeNIS · CICIDS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286000" y="24231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paso-2"/>
          <p:cNvSpPr/>
          <p:nvPr/>
        </p:nvSpPr>
        <p:spPr>
          <a:xfrm>
            <a:off x="2468880" y="2011680"/>
            <a:ext cx="1645920" cy="1417320"/>
          </a:xfrm>
          <a:prstGeom prst="roundRect">
            <a:avLst>
              <a:gd name="adj" fmla="val 5161"/>
            </a:avLst>
          </a:prstGeom>
          <a:solidFill>
            <a:srgbClr val="1A1D21"/>
          </a:solidFill>
          <a:ln w="9525">
            <a:solidFill>
              <a:srgbClr val="2C303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33472" y="213969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8A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633472" y="2560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633472" y="29077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hashes · duplicados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24231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5" name="paso-3"/>
          <p:cNvSpPr/>
          <p:nvPr/>
        </p:nvSpPr>
        <p:spPr>
          <a:xfrm>
            <a:off x="4297680" y="2011680"/>
            <a:ext cx="1645920" cy="1417320"/>
          </a:xfrm>
          <a:prstGeom prst="roundRect">
            <a:avLst>
              <a:gd name="adj" fmla="val 5161"/>
            </a:avLst>
          </a:prstGeom>
          <a:solidFill>
            <a:srgbClr val="1A1D21"/>
          </a:solidFill>
          <a:ln w="9525">
            <a:solidFill>
              <a:srgbClr val="2C303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62272" y="213969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8A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462272" y="2560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462272" y="29077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GeNIS oficial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0" y="24231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0" name="paso-4"/>
          <p:cNvSpPr/>
          <p:nvPr/>
        </p:nvSpPr>
        <p:spPr>
          <a:xfrm>
            <a:off x="6126480" y="2011680"/>
            <a:ext cx="1645920" cy="1417320"/>
          </a:xfrm>
          <a:prstGeom prst="roundRect">
            <a:avLst>
              <a:gd name="adj" fmla="val 5161"/>
            </a:avLst>
          </a:prstGeom>
          <a:solidFill>
            <a:srgbClr val="1A1D21"/>
          </a:solidFill>
          <a:ln w="9525">
            <a:solidFill>
              <a:srgbClr val="2C303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91072" y="213969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8A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291072" y="2560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291072" y="29077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estratificado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24231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5" name="paso-5"/>
          <p:cNvSpPr/>
          <p:nvPr/>
        </p:nvSpPr>
        <p:spPr>
          <a:xfrm>
            <a:off x="7955280" y="2011680"/>
            <a:ext cx="1645920" cy="1417320"/>
          </a:xfrm>
          <a:prstGeom prst="roundRect">
            <a:avLst>
              <a:gd name="adj" fmla="val 5161"/>
            </a:avLst>
          </a:prstGeom>
          <a:solidFill>
            <a:srgbClr val="1A1D21"/>
          </a:solidFill>
          <a:ln w="9525">
            <a:solidFill>
              <a:srgbClr val="2C303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119872" y="213969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8A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119872" y="2560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119872" y="29077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 ≥ 0.95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9601200" y="24231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0" name="paso-6"/>
          <p:cNvSpPr/>
          <p:nvPr/>
        </p:nvSpPr>
        <p:spPr>
          <a:xfrm>
            <a:off x="9784080" y="2011680"/>
            <a:ext cx="1645920" cy="1417320"/>
          </a:xfrm>
          <a:prstGeom prst="roundRect">
            <a:avLst>
              <a:gd name="adj" fmla="val 5161"/>
            </a:avLst>
          </a:prstGeom>
          <a:solidFill>
            <a:srgbClr val="1A1D21"/>
          </a:solidFill>
          <a:ln w="9525">
            <a:solidFill>
              <a:srgbClr val="2C303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948672" y="213969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8A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948672" y="2560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9948672" y="29077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100" dirty="0"/>
          </a:p>
        </p:txBody>
      </p:sp>
      <p:sp>
        <p:nvSpPr>
          <p:cNvPr id="34" name="paso-7"/>
          <p:cNvSpPr/>
          <p:nvPr/>
        </p:nvSpPr>
        <p:spPr>
          <a:xfrm>
            <a:off x="640080" y="3931920"/>
            <a:ext cx="1645920" cy="1417320"/>
          </a:xfrm>
          <a:prstGeom prst="roundRect">
            <a:avLst>
              <a:gd name="adj" fmla="val 5161"/>
            </a:avLst>
          </a:prstGeom>
          <a:solidFill>
            <a:srgbClr val="1A1D21"/>
          </a:solidFill>
          <a:ln w="9525">
            <a:solidFill>
              <a:srgbClr val="2C303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04672" y="405993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8A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804672" y="4480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Balanceo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804672" y="48280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undersampling + SMOTE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2286000" y="43434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9" name="paso-8"/>
          <p:cNvSpPr/>
          <p:nvPr/>
        </p:nvSpPr>
        <p:spPr>
          <a:xfrm>
            <a:off x="2468880" y="3931920"/>
            <a:ext cx="1645920" cy="1417320"/>
          </a:xfrm>
          <a:prstGeom prst="roundRect">
            <a:avLst>
              <a:gd name="adj" fmla="val 5161"/>
            </a:avLst>
          </a:prstGeom>
          <a:solidFill>
            <a:srgbClr val="1A1D21"/>
          </a:solidFill>
          <a:ln w="9525">
            <a:solidFill>
              <a:srgbClr val="2C303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633472" y="405993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8A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2633472" y="4480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· XGB · MLP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2633472" y="48280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configuraciones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4114800" y="43434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44" name="paso-9"/>
          <p:cNvSpPr/>
          <p:nvPr/>
        </p:nvSpPr>
        <p:spPr>
          <a:xfrm>
            <a:off x="4297680" y="3931920"/>
            <a:ext cx="1645920" cy="1417320"/>
          </a:xfrm>
          <a:prstGeom prst="roundRect">
            <a:avLst>
              <a:gd name="adj" fmla="val 5161"/>
            </a:avLst>
          </a:prstGeom>
          <a:solidFill>
            <a:srgbClr val="1A1D21"/>
          </a:solidFill>
          <a:ln w="9525">
            <a:solidFill>
              <a:srgbClr val="2C3036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462272" y="405993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8A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600" dirty="0"/>
          </a:p>
        </p:txBody>
      </p:sp>
      <p:sp>
        <p:nvSpPr>
          <p:cNvPr id="46" name="Text 44"/>
          <p:cNvSpPr txBox="1"/>
          <p:nvPr/>
        </p:nvSpPr>
        <p:spPr>
          <a:xfrm>
            <a:off x="4462272" y="4480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4462272" y="48280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→ DE → latencia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5943600" y="43434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49" name="paso-10"/>
          <p:cNvSpPr/>
          <p:nvPr/>
        </p:nvSpPr>
        <p:spPr>
          <a:xfrm>
            <a:off x="6126480" y="3931920"/>
            <a:ext cx="1645920" cy="1417320"/>
          </a:xfrm>
          <a:prstGeom prst="roundRect">
            <a:avLst>
              <a:gd name="adj" fmla="val 5161"/>
            </a:avLst>
          </a:prstGeom>
          <a:solidFill>
            <a:srgbClr val="1A1D21"/>
          </a:solidFill>
          <a:ln w="9525">
            <a:solidFill>
              <a:srgbClr val="2C3036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291072" y="405993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8A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600" dirty="0"/>
          </a:p>
        </p:txBody>
      </p:sp>
      <p:sp>
        <p:nvSpPr>
          <p:cNvPr id="51" name="Text 49"/>
          <p:cNvSpPr txBox="1"/>
          <p:nvPr/>
        </p:nvSpPr>
        <p:spPr>
          <a:xfrm>
            <a:off x="6291072" y="4480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oficial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6291072" y="48280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semillas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7772400" y="43434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54" name="paso-11"/>
          <p:cNvSpPr/>
          <p:nvPr/>
        </p:nvSpPr>
        <p:spPr>
          <a:xfrm>
            <a:off x="7955280" y="3931920"/>
            <a:ext cx="1645920" cy="1417320"/>
          </a:xfrm>
          <a:prstGeom prst="roundRect">
            <a:avLst>
              <a:gd name="adj" fmla="val 5161"/>
            </a:avLst>
          </a:prstGeom>
          <a:solidFill>
            <a:srgbClr val="1A1D21"/>
          </a:solidFill>
          <a:ln w="9525">
            <a:solidFill>
              <a:srgbClr val="2C3036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119872" y="405993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8A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600" dirty="0"/>
          </a:p>
        </p:txBody>
      </p:sp>
      <p:sp>
        <p:nvSpPr>
          <p:cNvPr id="56" name="Text 54"/>
          <p:cNvSpPr txBox="1"/>
          <p:nvPr/>
        </p:nvSpPr>
        <p:spPr>
          <a:xfrm>
            <a:off x="8119872" y="4480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8119872" y="48280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y local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9601200" y="43434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59" name="paso-12"/>
          <p:cNvSpPr/>
          <p:nvPr/>
        </p:nvSpPr>
        <p:spPr>
          <a:xfrm>
            <a:off x="9784080" y="3931920"/>
            <a:ext cx="1645920" cy="1417320"/>
          </a:xfrm>
          <a:prstGeom prst="roundRect">
            <a:avLst>
              <a:gd name="adj" fmla="val 5161"/>
            </a:avLst>
          </a:prstGeom>
          <a:solidFill>
            <a:srgbClr val="1A1D21"/>
          </a:solidFill>
          <a:ln w="9525">
            <a:solidFill>
              <a:srgbClr val="2C3036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9948672" y="405993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8A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600" dirty="0"/>
          </a:p>
        </p:txBody>
      </p:sp>
      <p:sp>
        <p:nvSpPr>
          <p:cNvPr id="61" name="Text 59"/>
          <p:cNvSpPr txBox="1"/>
          <p:nvPr/>
        </p:nvSpPr>
        <p:spPr>
          <a:xfrm>
            <a:off x="9948672" y="4480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</a:t>
            </a:r>
            <a:endParaRPr lang="en-US" sz="1400" dirty="0"/>
          </a:p>
        </p:txBody>
      </p:sp>
      <p:sp>
        <p:nvSpPr>
          <p:cNvPr id="62" name="Text 60"/>
          <p:cNvSpPr txBox="1"/>
          <p:nvPr/>
        </p:nvSpPr>
        <p:spPr>
          <a:xfrm>
            <a:off x="9948672" y="48280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+ playbook</a:t>
            </a:r>
            <a:endParaRPr lang="en-US" sz="1100" dirty="0"/>
          </a:p>
        </p:txBody>
      </p:sp>
      <p:sp>
        <p:nvSpPr>
          <p:cNvPr id="63" name="Text 61"/>
          <p:cNvSpPr txBox="1"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E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separados: nunca se concatenan. CICIDS2017 no participa en la selección del modelo de GeNIS.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939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8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· DATOS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ECE9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Datos: dos fuentes, sin mezclarlas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Ccolla Lazarinos · Protocolo V2 · RUN_REPRO_V2_03_CLEANROOM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56692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286000"/>
                <a:gridCol w="22860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8A9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GeNIS 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8A9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CICIDS2017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E93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CE9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Principal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CE9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Repetición independiente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E93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CE9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486,346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CE9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79,996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E93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CE9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121,587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CE9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E93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CE9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607,933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CE9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99,996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E93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CE9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Oficial (no se re-mezcla)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CE9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Muestra estratificada, semilla 42, 80/20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E93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Calidad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CE9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faltantes · 0 infinitos · 0 duplicados · 0% solape train/test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CE9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Auditoría previa de archivos originales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0080" y="548640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Silva et al. (2025) para GeNIS; Sharafaldin, Habibi Lashkari y Ghorbani (2018) para CICIDS2017.</a:t>
            </a:r>
            <a:endParaRPr lang="en-US" sz="1100" dirty="0"/>
          </a:p>
        </p:txBody>
      </p:sp>
      <p:sp>
        <p:nvSpPr>
          <p:cNvPr id="7" name="grafico-desbalance"/>
          <p:cNvSpPr/>
          <p:nvPr/>
        </p:nvSpPr>
        <p:spPr>
          <a:xfrm>
            <a:off x="6675120" y="1737360"/>
            <a:ext cx="4873752" cy="4206240"/>
          </a:xfrm>
          <a:prstGeom prst="roundRect">
            <a:avLst>
              <a:gd name="adj" fmla="val 1739"/>
            </a:avLst>
          </a:prstGeom>
          <a:solidFill>
            <a:srgbClr val="1A1D21"/>
          </a:solidFill>
          <a:ln w="9525">
            <a:solidFill>
              <a:srgbClr val="2C303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903720" y="18745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GeNIS · distribución de clases (train)</a:t>
            </a:r>
            <a:endParaRPr lang="en-US" sz="13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812280" y="2194560"/>
          <a:ext cx="45720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939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8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· CONTROL DE LEAKAGE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ECE9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sin fuga de información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Ccolla Lazarinos · Protocolo V2 · RUN_REPRO_V2_03_CLEANROOM</a:t>
            </a:r>
            <a:endParaRPr lang="en-US" sz="1000" dirty="0"/>
          </a:p>
        </p:txBody>
      </p:sp>
      <p:sp>
        <p:nvSpPr>
          <p:cNvPr id="5" name="fold-train"/>
          <p:cNvSpPr/>
          <p:nvPr/>
        </p:nvSpPr>
        <p:spPr>
          <a:xfrm>
            <a:off x="640080" y="169164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1A1D21"/>
          </a:solidFill>
          <a:ln w="9525">
            <a:solidFill>
              <a:srgbClr val="2C303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828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folds de entrenamiento · fit</a:t>
            </a:r>
            <a:endParaRPr lang="en-US" sz="1300" dirty="0"/>
          </a:p>
        </p:txBody>
      </p:sp>
      <p:sp>
        <p:nvSpPr>
          <p:cNvPr id="7" name="etapa-Selector"/>
          <p:cNvSpPr/>
          <p:nvPr/>
        </p:nvSpPr>
        <p:spPr>
          <a:xfrm>
            <a:off x="868680" y="2331720"/>
            <a:ext cx="896112" cy="731520"/>
          </a:xfrm>
          <a:prstGeom prst="roundRect">
            <a:avLst>
              <a:gd name="adj" fmla="val 7500"/>
            </a:avLst>
          </a:prstGeom>
          <a:solidFill>
            <a:srgbClr val="111315"/>
          </a:solidFill>
          <a:ln w="9525">
            <a:solidFill>
              <a:srgbClr val="C8A96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331720"/>
            <a:ext cx="896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</a:t>
            </a:r>
            <a:endParaRPr lang="en-US" sz="1050" dirty="0"/>
          </a:p>
        </p:txBody>
      </p:sp>
      <p:sp>
        <p:nvSpPr>
          <p:cNvPr id="9" name="etapa-Scaler"/>
          <p:cNvSpPr/>
          <p:nvPr/>
        </p:nvSpPr>
        <p:spPr>
          <a:xfrm>
            <a:off x="1856232" y="2331720"/>
            <a:ext cx="896112" cy="731520"/>
          </a:xfrm>
          <a:prstGeom prst="roundRect">
            <a:avLst>
              <a:gd name="adj" fmla="val 7500"/>
            </a:avLst>
          </a:prstGeom>
          <a:solidFill>
            <a:srgbClr val="111315"/>
          </a:solidFill>
          <a:ln w="9525">
            <a:solidFill>
              <a:srgbClr val="C8A96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856232" y="2331720"/>
            <a:ext cx="896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</a:t>
            </a:r>
            <a:endParaRPr lang="en-US" sz="1050" dirty="0"/>
          </a:p>
        </p:txBody>
      </p:sp>
      <p:sp>
        <p:nvSpPr>
          <p:cNvPr id="11" name="etapa-Undersampling"/>
          <p:cNvSpPr/>
          <p:nvPr/>
        </p:nvSpPr>
        <p:spPr>
          <a:xfrm>
            <a:off x="2843784" y="2331720"/>
            <a:ext cx="896112" cy="731520"/>
          </a:xfrm>
          <a:prstGeom prst="roundRect">
            <a:avLst>
              <a:gd name="adj" fmla="val 7500"/>
            </a:avLst>
          </a:prstGeom>
          <a:solidFill>
            <a:srgbClr val="111315"/>
          </a:solidFill>
          <a:ln w="9525">
            <a:solidFill>
              <a:srgbClr val="C8A96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43784" y="2331720"/>
            <a:ext cx="896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Undersampling</a:t>
            </a:r>
            <a:endParaRPr lang="en-US" sz="1050" dirty="0"/>
          </a:p>
        </p:txBody>
      </p:sp>
      <p:sp>
        <p:nvSpPr>
          <p:cNvPr id="13" name="etapa-SMOTE"/>
          <p:cNvSpPr/>
          <p:nvPr/>
        </p:nvSpPr>
        <p:spPr>
          <a:xfrm>
            <a:off x="3831336" y="2331720"/>
            <a:ext cx="896112" cy="731520"/>
          </a:xfrm>
          <a:prstGeom prst="roundRect">
            <a:avLst>
              <a:gd name="adj" fmla="val 7500"/>
            </a:avLst>
          </a:prstGeom>
          <a:solidFill>
            <a:srgbClr val="111315"/>
          </a:solidFill>
          <a:ln w="9525">
            <a:solidFill>
              <a:srgbClr val="C8A96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31336" y="2331720"/>
            <a:ext cx="896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</a:t>
            </a:r>
            <a:endParaRPr lang="en-US" sz="1050" dirty="0"/>
          </a:p>
        </p:txBody>
      </p:sp>
      <p:sp>
        <p:nvSpPr>
          <p:cNvPr id="15" name="etapa-Modelo"/>
          <p:cNvSpPr/>
          <p:nvPr/>
        </p:nvSpPr>
        <p:spPr>
          <a:xfrm>
            <a:off x="4818888" y="2331720"/>
            <a:ext cx="896112" cy="731520"/>
          </a:xfrm>
          <a:prstGeom prst="roundRect">
            <a:avLst>
              <a:gd name="adj" fmla="val 7500"/>
            </a:avLst>
          </a:prstGeom>
          <a:solidFill>
            <a:srgbClr val="111315"/>
          </a:solidFill>
          <a:ln w="9525">
            <a:solidFill>
              <a:srgbClr val="C8A96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18888" y="2331720"/>
            <a:ext cx="896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3291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E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ajuste ocurre solo con datos de entrenamiento.</a:t>
            </a:r>
            <a:endParaRPr lang="en-US" sz="1200" dirty="0"/>
          </a:p>
        </p:txBody>
      </p:sp>
      <p:sp>
        <p:nvSpPr>
          <p:cNvPr id="18" name="fold-val"/>
          <p:cNvSpPr/>
          <p:nvPr/>
        </p:nvSpPr>
        <p:spPr>
          <a:xfrm>
            <a:off x="640080" y="4023360"/>
            <a:ext cx="5486400" cy="1554480"/>
          </a:xfrm>
          <a:prstGeom prst="roundRect">
            <a:avLst>
              <a:gd name="adj" fmla="val 4706"/>
            </a:avLst>
          </a:prstGeom>
          <a:solidFill>
            <a:srgbClr val="1A1D21"/>
          </a:solidFill>
          <a:ln w="9525">
            <a:solidFill>
              <a:srgbClr val="2C303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4160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fold de validación · solo transform → predict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45720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aprende media, selección ni sintéticos. El test oficial permanece aislado hasta congelar el modelo.</a:t>
            </a:r>
            <a:endParaRPr lang="en-US" sz="1300" dirty="0"/>
          </a:p>
        </p:txBody>
      </p:sp>
      <p:sp>
        <p:nvSpPr>
          <p:cNvPr id="21" name="codigo"/>
          <p:cNvSpPr/>
          <p:nvPr/>
        </p:nvSpPr>
        <p:spPr>
          <a:xfrm>
            <a:off x="6400800" y="1691640"/>
            <a:ext cx="5148072" cy="3886200"/>
          </a:xfrm>
          <a:prstGeom prst="roundRect">
            <a:avLst>
              <a:gd name="adj" fmla="val 1882"/>
            </a:avLst>
          </a:prstGeom>
          <a:solidFill>
            <a:srgbClr val="1A1D21"/>
          </a:solidFill>
          <a:ln w="9525">
            <a:solidFill>
              <a:srgbClr val="2C303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29400" y="18288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93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scripts/run_genis_cleanroom.py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629400" y="219456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CE9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skf = StratifiedKFold(
    n_splits=5, shuffle=True,
    random_state=42)
</a:t>
            </a:r>
            <a:pPr indent="0" marL="0">
              <a:buNone/>
            </a:pPr>
            <a:r>
              <a:rPr lang="en-US" sz="1300" dirty="0">
                <a:solidFill>
                  <a:srgbClr val="ECE9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 = ImbPipeline([
</a:t>
            </a:r>
            <a:pPr indent="0" marL="0">
              <a:buNone/>
            </a:pPr>
            <a:r>
              <a:rPr lang="en-US" sz="1300" dirty="0">
                <a:solidFill>
                  <a:srgbClr val="ECE9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("selector", FoldFeatureSelector(
        corr_threshold=0.95)),
</a:t>
            </a:r>
            <a:pPr indent="0" marL="0">
              <a:buNone/>
            </a:pPr>
            <a:r>
              <a:rPr lang="en-US" sz="1300" dirty="0">
                <a:solidFill>
                  <a:srgbClr val="ECE9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("scaler", StandardScaler()),
</a:t>
            </a:r>
            <a:pPr indent="0" marL="0">
              <a:buNone/>
            </a:pPr>
            <a:r>
              <a:rPr lang="en-US" sz="1300" dirty="0">
                <a:solidFill>
                  <a:srgbClr val="ECE9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("smote", SubsampledSMOTE()),
</a:t>
            </a:r>
            <a:pPr indent="0" marL="0">
              <a:buNone/>
            </a:pPr>
            <a:r>
              <a:rPr lang="en-US" sz="1300" dirty="0">
                <a:solidFill>
                  <a:srgbClr val="ECE9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("clf", clf)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CE9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E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documentado: la clase DoS agotaba la RAM con SMOTE directo; se añadió submuestreo controlado de la mayoritaria antes de SMOTE.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939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8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ECE9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Evidencias verificables de la ejecución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Ccolla Lazarinos · Protocolo V2 · RUN_REPRO_V2_03_CLEANROOM</a:t>
            </a:r>
            <a:endParaRPr lang="en-US" sz="1000" dirty="0"/>
          </a:p>
        </p:txBody>
      </p:sp>
      <p:sp>
        <p:nvSpPr>
          <p:cNvPr id="5" name="arbol"/>
          <p:cNvSpPr/>
          <p:nvPr/>
        </p:nvSpPr>
        <p:spPr>
          <a:xfrm>
            <a:off x="640080" y="16916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1A1D21"/>
          </a:solidFill>
          <a:ln w="9525">
            <a:solidFill>
              <a:srgbClr val="2C303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8288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8A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RUN_REPRO_V2_03_CLEANROOM/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24028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CE9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00_protocol    protocolo, mapping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CE9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01_environment hashes, hardware, libs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CE9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02_audit       auditoría GeNIS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CE9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03_splits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CE9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04_cv          folds, configs, decisión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CE9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05_models      RandomForest_S42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CE9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06_predictions por flujo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CE9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07_metrics     oe1_definitive.json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CE9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08_shap        global y casos locales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CE9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09_cicids      repetición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CE9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10_cross_dataset  Jaccard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CE9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manifest_final.json</a:t>
            </a:r>
            <a:endParaRPr lang="en-US" sz="1200" dirty="0"/>
          </a:p>
        </p:txBody>
      </p:sp>
      <p:sp>
        <p:nvSpPr>
          <p:cNvPr id="8" name="evid-0"/>
          <p:cNvSpPr/>
          <p:nvPr/>
        </p:nvSpPr>
        <p:spPr>
          <a:xfrm>
            <a:off x="6309360" y="1691640"/>
            <a:ext cx="5239512" cy="1325880"/>
          </a:xfrm>
          <a:prstGeom prst="roundRect">
            <a:avLst>
              <a:gd name="adj" fmla="val 5517"/>
            </a:avLst>
          </a:prstGeom>
          <a:solidFill>
            <a:srgbClr val="1A1D21"/>
          </a:solidFill>
          <a:ln w="9525">
            <a:solidFill>
              <a:srgbClr val="2C303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37960" y="18288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environment_id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103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8A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ENV_de6fe487a3e9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5146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i5-10400 · 7.9 GB RAM · CPU · Win 11 · Python 3.11.9</a:t>
            </a:r>
            <a:endParaRPr lang="en-US" sz="1100" dirty="0"/>
          </a:p>
        </p:txBody>
      </p:sp>
      <p:sp>
        <p:nvSpPr>
          <p:cNvPr id="12" name="evid-1"/>
          <p:cNvSpPr/>
          <p:nvPr/>
        </p:nvSpPr>
        <p:spPr>
          <a:xfrm>
            <a:off x="6309360" y="3154680"/>
            <a:ext cx="5239512" cy="1325880"/>
          </a:xfrm>
          <a:prstGeom prst="roundRect">
            <a:avLst>
              <a:gd name="adj" fmla="val 5517"/>
            </a:avLst>
          </a:prstGeom>
          <a:solidFill>
            <a:srgbClr val="1A1D21"/>
          </a:solidFill>
          <a:ln w="9525">
            <a:solidFill>
              <a:srgbClr val="2C303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37960" y="32918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· genis-30-sec-train.csv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3566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8A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815f419dd2ce3d56…cb3462b4696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39776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MB · hashes de todos los datasets en 01_environment</a:t>
            </a:r>
            <a:endParaRPr lang="en-US" sz="1100" dirty="0"/>
          </a:p>
        </p:txBody>
      </p:sp>
      <p:sp>
        <p:nvSpPr>
          <p:cNvPr id="16" name="evid-2"/>
          <p:cNvSpPr/>
          <p:nvPr/>
        </p:nvSpPr>
        <p:spPr>
          <a:xfrm>
            <a:off x="6309360" y="4617720"/>
            <a:ext cx="5239512" cy="1325880"/>
          </a:xfrm>
          <a:prstGeom prst="roundRect">
            <a:avLst>
              <a:gd name="adj" fmla="val 5517"/>
            </a:avLst>
          </a:prstGeom>
          <a:solidFill>
            <a:srgbClr val="1A1D21"/>
          </a:solidFill>
          <a:ln w="9525">
            <a:solidFill>
              <a:srgbClr val="2C303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7960" y="47548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Semillas y trazabilidad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5029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8A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 · 52 · 62 · 72 · 82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54406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F1 → dataset, hash, split, configuración, semilla y entorno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939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8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GENIS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ECE9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OE1 · Comparación de modelos en validación cruzada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Ccolla Lazarinos · Protocolo V2 · RUN_REPRO_V2_03_CLEANROOM</a:t>
            </a:r>
            <a:endParaRPr lang="en-US" sz="1000" dirty="0"/>
          </a:p>
        </p:txBody>
      </p:sp>
      <p:sp>
        <p:nvSpPr>
          <p:cNvPr id="5" name="grafico-cv"/>
          <p:cNvSpPr/>
          <p:nvPr/>
        </p:nvSpPr>
        <p:spPr>
          <a:xfrm>
            <a:off x="640080" y="1691640"/>
            <a:ext cx="6766560" cy="4297680"/>
          </a:xfrm>
          <a:prstGeom prst="roundRect">
            <a:avLst>
              <a:gd name="adj" fmla="val 1702"/>
            </a:avLst>
          </a:prstGeom>
          <a:solidFill>
            <a:srgbClr val="1A1D21"/>
          </a:solidFill>
          <a:ln w="9525">
            <a:solidFill>
              <a:srgbClr val="2C303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828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F1-macro medio · 5-fold CV · mejor configuración de cada modelo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77240" y="2194560"/>
          <a:ext cx="64922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868680" y="5486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truncado para visualizar diferencias de ≈10⁻⁴.   DE:  RF 0.000054 · XGB 0.000085 · MLP 0.000204</a:t>
            </a:r>
            <a:endParaRPr lang="en-US" sz="1100" dirty="0"/>
          </a:p>
        </p:txBody>
      </p:sp>
      <p:sp>
        <p:nvSpPr>
          <p:cNvPr id="9" name="decision"/>
          <p:cNvSpPr/>
          <p:nvPr/>
        </p:nvSpPr>
        <p:spPr>
          <a:xfrm>
            <a:off x="7680960" y="1691640"/>
            <a:ext cx="3867912" cy="4297680"/>
          </a:xfrm>
          <a:prstGeom prst="roundRect">
            <a:avLst>
              <a:gd name="adj" fmla="val 1891"/>
            </a:avLst>
          </a:prstGeom>
          <a:solidFill>
            <a:srgbClr val="1A1D21"/>
          </a:solidFill>
          <a:ln w="9525">
            <a:solidFill>
              <a:srgbClr val="2C303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909560" y="1828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selección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909560" y="21488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F1-macro → desviación estándar → latencia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909560" y="2926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CE9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 F1 RF–XGB = 0.00004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7909560" y="33832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E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0.005 → empate técnico. Se aplica el segundo criterio.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909560" y="4206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8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seleccionado por menor DE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7909560" y="47091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configuraciones × 5 folds = 120 evaluaciones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939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8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GENIS · H1 Y H3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ECE9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oficial y eficiencia de inferencia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Ccolla Lazarinos · Protocolo V2 · RUN_REPRO_V2_03_CLEANROOM</a:t>
            </a:r>
            <a:endParaRPr lang="en-US" sz="1000" dirty="0"/>
          </a:p>
        </p:txBody>
      </p:sp>
      <p:sp>
        <p:nvSpPr>
          <p:cNvPr id="5" name="matriz"/>
          <p:cNvSpPr/>
          <p:nvPr/>
        </p:nvSpPr>
        <p:spPr>
          <a:xfrm>
            <a:off x="640080" y="1691640"/>
            <a:ext cx="6035040" cy="4297680"/>
          </a:xfrm>
          <a:prstGeom prst="roundRect">
            <a:avLst>
              <a:gd name="adj" fmla="val 1702"/>
            </a:avLst>
          </a:prstGeom>
          <a:solidFill>
            <a:srgbClr val="1A1D21"/>
          </a:solidFill>
          <a:ln w="9525">
            <a:solidFill>
              <a:srgbClr val="2C303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8288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confusión · test oficial · semilla 42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2286000"/>
          <a:ext cx="55778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97280"/>
                <a:gridCol w="1097280"/>
                <a:gridCol w="1097280"/>
                <a:gridCol w="1097280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E93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\ pred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E93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Benign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E93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BruteForce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E93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E93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E93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Benign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3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6,507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9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E64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E64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E64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E93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BruteForce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3B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3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3,607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9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E64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E64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E93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E64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E64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3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105,925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9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E64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E93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E64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E64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E64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31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113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5,547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96A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868680" y="544068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E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 error: 1 flujo BruteForce clasificado como Benign (1 de 121,587).</a:t>
            </a:r>
            <a:endParaRPr lang="en-US" sz="1200" dirty="0"/>
          </a:p>
        </p:txBody>
      </p:sp>
      <p:sp>
        <p:nvSpPr>
          <p:cNvPr id="9" name="kpi-0"/>
          <p:cNvSpPr/>
          <p:nvPr/>
        </p:nvSpPr>
        <p:spPr>
          <a:xfrm>
            <a:off x="6949440" y="1691640"/>
            <a:ext cx="4599432" cy="777240"/>
          </a:xfrm>
          <a:prstGeom prst="roundRect">
            <a:avLst>
              <a:gd name="adj" fmla="val 9412"/>
            </a:avLst>
          </a:prstGeom>
          <a:solidFill>
            <a:srgbClr val="1A1D21"/>
          </a:solidFill>
          <a:ln w="9525">
            <a:solidFill>
              <a:srgbClr val="2C303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78040" y="18013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F1-macro (5 semillas)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9144000" y="180136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C8A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0.99996</a:t>
            </a:r>
            <a:endParaRPr lang="en-US" sz="2000" dirty="0"/>
          </a:p>
        </p:txBody>
      </p:sp>
      <p:sp>
        <p:nvSpPr>
          <p:cNvPr id="12" name="kpi-1"/>
          <p:cNvSpPr/>
          <p:nvPr/>
        </p:nvSpPr>
        <p:spPr>
          <a:xfrm>
            <a:off x="6949440" y="2587752"/>
            <a:ext cx="4599432" cy="777240"/>
          </a:xfrm>
          <a:prstGeom prst="roundRect">
            <a:avLst>
              <a:gd name="adj" fmla="val 9412"/>
            </a:avLst>
          </a:prstGeom>
          <a:solidFill>
            <a:srgbClr val="1A1D21"/>
          </a:solidFill>
          <a:ln w="9525">
            <a:solidFill>
              <a:srgbClr val="2C303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178040" y="2697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0" y="2697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C8A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0.99999</a:t>
            </a:r>
            <a:endParaRPr lang="en-US" sz="2000" dirty="0"/>
          </a:p>
        </p:txBody>
      </p:sp>
      <p:sp>
        <p:nvSpPr>
          <p:cNvPr id="15" name="kpi-2"/>
          <p:cNvSpPr/>
          <p:nvPr/>
        </p:nvSpPr>
        <p:spPr>
          <a:xfrm>
            <a:off x="6949440" y="3483864"/>
            <a:ext cx="4599432" cy="777240"/>
          </a:xfrm>
          <a:prstGeom prst="roundRect">
            <a:avLst>
              <a:gd name="adj" fmla="val 9412"/>
            </a:avLst>
          </a:prstGeom>
          <a:solidFill>
            <a:srgbClr val="1A1D21"/>
          </a:solidFill>
          <a:ln w="9525">
            <a:solidFill>
              <a:srgbClr val="2C303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178040" y="35935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 media / flujo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0" y="359359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C8A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18.88 ms</a:t>
            </a:r>
            <a:endParaRPr lang="en-US" sz="2000" dirty="0"/>
          </a:p>
        </p:txBody>
      </p:sp>
      <p:sp>
        <p:nvSpPr>
          <p:cNvPr id="18" name="kpi-3"/>
          <p:cNvSpPr/>
          <p:nvPr/>
        </p:nvSpPr>
        <p:spPr>
          <a:xfrm>
            <a:off x="6949440" y="4379976"/>
            <a:ext cx="4599432" cy="777240"/>
          </a:xfrm>
          <a:prstGeom prst="roundRect">
            <a:avLst>
              <a:gd name="adj" fmla="val 9412"/>
            </a:avLst>
          </a:prstGeom>
          <a:solidFill>
            <a:srgbClr val="1A1D21"/>
          </a:solidFill>
          <a:ln w="9525">
            <a:solidFill>
              <a:srgbClr val="2C303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178040" y="448970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· P99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0" y="448970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C8A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19.09 · 19.25 ms</a:t>
            </a:r>
            <a:endParaRPr lang="en-US" sz="2000" dirty="0"/>
          </a:p>
        </p:txBody>
      </p:sp>
      <p:sp>
        <p:nvSpPr>
          <p:cNvPr id="21" name="h3"/>
          <p:cNvSpPr/>
          <p:nvPr/>
        </p:nvSpPr>
        <p:spPr>
          <a:xfrm>
            <a:off x="6949440" y="5303520"/>
            <a:ext cx="4599432" cy="685800"/>
          </a:xfrm>
          <a:prstGeom prst="roundRect">
            <a:avLst>
              <a:gd name="adj" fmla="val 10667"/>
            </a:avLst>
          </a:prstGeom>
          <a:solidFill>
            <a:srgbClr val="1A1D21"/>
          </a:solidFill>
          <a:ln w="9525">
            <a:solidFill>
              <a:srgbClr val="2C303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178040" y="53035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B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cumple: umbral 500 ms · margen ×26 en el hardware registrado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939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8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GENIS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ECE9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OE2 · Explicabilidad con SHAP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Ccolla Lazarinos · Protocolo V2 · RUN_REPRO_V2_03_CLEANROOM</a:t>
            </a:r>
            <a:endParaRPr lang="en-US" sz="1000" dirty="0"/>
          </a:p>
        </p:txBody>
      </p:sp>
      <p:sp>
        <p:nvSpPr>
          <p:cNvPr id="5" name="shap-global"/>
          <p:cNvSpPr/>
          <p:nvPr/>
        </p:nvSpPr>
        <p:spPr>
          <a:xfrm>
            <a:off x="640080" y="1691640"/>
            <a:ext cx="6309360" cy="4297680"/>
          </a:xfrm>
          <a:prstGeom prst="roundRect">
            <a:avLst>
              <a:gd name="adj" fmla="val 1702"/>
            </a:avLst>
          </a:prstGeom>
          <a:solidFill>
            <a:srgbClr val="1A1D21"/>
          </a:solidFill>
          <a:ln w="9525">
            <a:solidFill>
              <a:srgbClr val="2C303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8288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Importancia global · top-10 · media(|SHAP|)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77240" y="2148840"/>
          <a:ext cx="60350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-local"/>
          <p:cNvSpPr/>
          <p:nvPr/>
        </p:nvSpPr>
        <p:spPr>
          <a:xfrm>
            <a:off x="7223760" y="1691640"/>
            <a:ext cx="4325112" cy="4297680"/>
          </a:xfrm>
          <a:prstGeom prst="roundRect">
            <a:avLst>
              <a:gd name="adj" fmla="val 1702"/>
            </a:avLst>
          </a:prstGeom>
          <a:solidFill>
            <a:srgbClr val="1A1D21"/>
          </a:solidFill>
          <a:ln w="9525">
            <a:solidFill>
              <a:srgbClr val="2C303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52360" y="1828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local · alerta DoS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452360" y="2240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Predicción: DoS · confianza 99.995%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452360" y="2788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E9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Sdaddr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875520" y="2788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C8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+0.205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452360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E9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875520" y="3246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C8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+0.052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452360" y="3703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CE9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SIntPktMin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875520" y="3703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C8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+0.047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7452360" y="4343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E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inicial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7452360" y="4617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CE9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PB-01 · Mitigación de DoS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7452360" y="51663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E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explica al modelo; no demuestra causalidad del ataque.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939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8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OE1 Y OE2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ECE9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Contraste con CICIDS2017 y comparación homologada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Ccolla Lazarinos · Protocolo V2 · RUN_REPRO_V2_03_CLEANROOM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57607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8A9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F1-macro CV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8A9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8A9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CICIDS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CE9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A9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CE9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0.9777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CE9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CE9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A9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0.9866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CE9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CE9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CE9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8E93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Ganador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CE9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CE9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8E93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F1-macro 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CE9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CE9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0.98533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3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0080" y="461772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E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dataset se evalúa por separado: el ganador puede cambiar de un entorno a otro.</a:t>
            </a:r>
            <a:endParaRPr lang="en-US" sz="1250" dirty="0"/>
          </a:p>
        </p:txBody>
      </p:sp>
      <p:sp>
        <p:nvSpPr>
          <p:cNvPr id="7" name="jaccard"/>
          <p:cNvSpPr/>
          <p:nvPr/>
        </p:nvSpPr>
        <p:spPr>
          <a:xfrm>
            <a:off x="6675120" y="1737360"/>
            <a:ext cx="4873752" cy="4206240"/>
          </a:xfrm>
          <a:prstGeom prst="roundRect">
            <a:avLst>
              <a:gd name="adj" fmla="val 1739"/>
            </a:avLst>
          </a:prstGeom>
          <a:solidFill>
            <a:srgbClr val="1A1D21"/>
          </a:solidFill>
          <a:ln w="9525">
            <a:solidFill>
              <a:srgbClr val="2C303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903720" y="18745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Jaccard Top-5 · conceptos homologados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903720" y="228600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dirty="0">
                <a:solidFill>
                  <a:srgbClr val="ECE9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0.25</a:t>
            </a:r>
            <a:endParaRPr lang="en-US" sz="6400" dirty="0"/>
          </a:p>
        </p:txBody>
      </p:sp>
      <p:sp>
        <p:nvSpPr>
          <p:cNvPr id="10" name="Text 7"/>
          <p:cNvSpPr txBox="1"/>
          <p:nvPr/>
        </p:nvSpPr>
        <p:spPr>
          <a:xfrm>
            <a:off x="6903720" y="34290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conceptos compartidos de 8 en la unión: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bwd_max_pkt_size · tcp_win_init_bwd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903720" y="42976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E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J@10 = N/A: solo 7 conceptos homologables en CICIDS.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903720" y="48920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E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significa que los datasets sean 25% iguales: indica solapamiento parcial entre variables dominantes.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939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8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Y AJUSTES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ECE9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Análisis, ajustes y siguientes pasos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Ccolla Lazarinos · Protocolo V2 · RUN_REPRO_V2_03_CLEANROOM</a:t>
            </a:r>
            <a:endParaRPr lang="en-US" sz="1000" dirty="0"/>
          </a:p>
        </p:txBody>
      </p:sp>
      <p:sp>
        <p:nvSpPr>
          <p:cNvPr id="5" name="ajustes"/>
          <p:cNvSpPr/>
          <p:nvPr/>
        </p:nvSpPr>
        <p:spPr>
          <a:xfrm>
            <a:off x="640080" y="1691640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1A1D21"/>
          </a:solidFill>
          <a:ln w="9525">
            <a:solidFill>
              <a:srgbClr val="2C303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828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Dificultades y ajustes registrados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240280"/>
            <a:ext cx="5029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Memoria: submuestreo controlado de DoS antes de SMOTE.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Búsqueda: lista congelada de 24 configuraciones en lugar de RandomizedSearchCV, por reproducibilidad.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CICIDS: contraste independiente, no réplica de GeNIS.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el peso de Sdaddr en SHAP (posible identificador).</a:t>
            </a:r>
            <a:endParaRPr lang="en-US" sz="1600" dirty="0"/>
          </a:p>
        </p:txBody>
      </p:sp>
      <p:sp>
        <p:nvSpPr>
          <p:cNvPr id="8" name="siguientes"/>
          <p:cNvSpPr/>
          <p:nvPr/>
        </p:nvSpPr>
        <p:spPr>
          <a:xfrm>
            <a:off x="6400800" y="1691640"/>
            <a:ext cx="5148072" cy="4297680"/>
          </a:xfrm>
          <a:prstGeom prst="roundRect">
            <a:avLst>
              <a:gd name="adj" fmla="val 1702"/>
            </a:avLst>
          </a:prstGeom>
          <a:solidFill>
            <a:srgbClr val="1A1D21"/>
          </a:solidFill>
          <a:ln w="9525">
            <a:solidFill>
              <a:srgbClr val="2C303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29400" y="18288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Siguientes pasos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23317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C8A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2331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el instrumento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271576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E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expertos y piloto con 2 usuarios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35204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C8A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7223760" y="3520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usabilidad (OE4)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390448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E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 administradores de pymes de Juliaca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47091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C8A9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7223760" y="4709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Contrastar H1–H4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509320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E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descriptivo, sin inferencia poblacional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939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Defensa del Protocolo V2 - Detección de intrusiones con ML y XAI</dc:title>
  <dc:subject>PptxGenJS Presentation</dc:subject>
  <dc:creator>Fernando Ccolla Lazarinos</dc:creator>
  <cp:lastModifiedBy>Fernando Ccolla Lazarinos</cp:lastModifiedBy>
  <cp:revision>1</cp:revision>
  <dcterms:created xsi:type="dcterms:W3CDTF">2026-10-06T17:44:39Z</dcterms:created>
  <dcterms:modified xsi:type="dcterms:W3CDTF">2026-10-06T17:44:39Z</dcterms:modified>
</cp:coreProperties>
</file>